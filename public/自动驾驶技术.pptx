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16459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3200400"/>
            <a:ext cx="164592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3200400"/>
            <a:ext cx="1645920" cy="4572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自动驾驶技术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2FF"/>
                </a:solidFill>
              </a:defRPr>
            </a:pPr>
            <a:r>
              <a:t>Autonomous Driving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从概念到现实：迈向智慧出行的未来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01    自动驾驶概述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定义、发展历程与行业背景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02    自动驾驶分级标准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L0 ~ L5 等级详解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03    核心技术架构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感知 · 定位 · 规划 · 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04    传感器系统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摄像头 · 毫米波雷达 · 激光雷达 · 超声波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05    算法与软件栈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深度学习 · SLAM · 路径规划 · V2X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15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  06    产业生态与挑战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            主要玩家 · 法规 · 安全 · 未来趋势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什么是自动驾驶？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What is Autonomous Driving?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自动驾驶是指车辆在无需人类主动操作的情况下，通过搭载先进传感器、控制器、执行器及人工智能算法，自动感知周围环境并做出驾驶决策的技术体系。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与传统驾驶的区别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环境感知替代人类感官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AI算法替代人脑判断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电控系统替代手脚操作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360°全时监控，无死角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核心价值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提升交通安全（减少人为事故）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提高交通效率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降低能源消耗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释放驾驶时间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为老年/残障人士提供出行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88136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关键里程碑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2004 ~ 2007: DARPA 无人车挑战赛 — 自动驾驶的起点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2009: Google 启动自动驾驶项目（现 Waymo）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2015: Tesla 推出 Autopilot 辅助驾驶系统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2020+: Waymo、百度 Apollo、Cruise 等推出 Robotaxi 商用服务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2024: 城市 NOA（领航辅助驾驶）在中国大规模落地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自动驾驶分级标准（SAE J3016）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Levels of Driving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914400" cy="64008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无自动化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人类驾驶员完成全部驾驶任务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914400" cy="64008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0487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驾驶辅助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50592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单一功能辅助（如定速巡航、AEB）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63824"/>
            <a:ext cx="914400" cy="64008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5526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9544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部分自动化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55264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同时控制转向+加减速（如 Tesla Autopilot）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68496"/>
            <a:ext cx="91440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9935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14215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有条件自动化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59935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特定场景下车辆完全负责，但需人类随时接管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73168"/>
            <a:ext cx="91440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64607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1888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高度自动化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64607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限定区域内完全无人驾驶（如 Robotaxi）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914400" cy="640080"/>
          </a:xfrm>
          <a:prstGeom prst="round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L5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23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完全自动化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6692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全场景、全路况完全无人驾驶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Core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51760" cy="256032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感知</a:t>
            </a:r>
            <a:br/>
            <a:r>
              <a:t>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摄像头、雷达、激光雷达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目标检测 / 语义分割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车道线识别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11680"/>
            <a:ext cx="2651760" cy="256032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2FFF"/>
                </a:solidFill>
              </a:defRPr>
            </a:pPr>
            <a:r>
              <a:t>定位</a:t>
            </a:r>
            <a:br/>
            <a:r>
              <a:t>Localization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08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GNSS / IMU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高精地图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SLAM 即时定位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2651760" cy="256032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00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5"/>
                </a:solidFill>
              </a:defRPr>
            </a:pPr>
            <a:r>
              <a:t>规划</a:t>
            </a:r>
            <a:br/>
            <a: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108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路径规划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行为决策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轨迹优化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011680"/>
            <a:ext cx="2651760" cy="256032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控制</a:t>
            </a:r>
            <a:br/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108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横向控制（转向）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纵向控制（速度）</a:t>
            </a:r>
          </a:p>
          <a:p>
            <a:pPr algn="ctr"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底盘执行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881360" cy="13716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数据闭环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数据采集 → 标注 → 模型训练 → 仿真验证 → OTA 部署 → 数据回传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海量真实路测数据 + 仿真数据 = 持续迭代优化的核心驱动力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传感器系统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Sensor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6517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摄像头</a:t>
            </a:r>
            <a:br/>
            <a:r>
              <a:t>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视觉感知核心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前视/环视/侧视 多角度覆盖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物体识别、车道线、交通标志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分辨率高、成本低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受光照/天气影响较大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65176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2FFF"/>
                </a:solidFill>
              </a:defRPr>
            </a:pPr>
            <a:r>
              <a:t>激光雷达</a:t>
            </a:r>
            <a:br/>
            <a:r>
              <a:t>LiDAR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三维空间建模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918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发射激光束探测距离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生成高精度 3D 点云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不受光照影响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成本较高，正在快速下降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651760" cy="4572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5"/>
                </a:solidFill>
              </a:defRPr>
            </a:pPr>
            <a:r>
              <a:t>毫米波雷达</a:t>
            </a:r>
            <a:br/>
            <a:r>
              <a:t>Radar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可靠距离测速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918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发射毫米波探测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精确测量距离和速度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全天候工作能力强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分辨率相对较低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828800"/>
            <a:ext cx="26517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超声波</a:t>
            </a:r>
            <a:br/>
            <a:r>
              <a:t>Ultrasonic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近距离探测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2918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短距离探测（通常 &lt;5m）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主要用于泊车辅助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成本极低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盲区补盲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感知算法技术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Perception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2D/3D 目标检测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YOLO / SSD / CenterNet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BEV（鸟瞰视角）感知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Transformer-based 检测器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多任务联合学习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语义分割 &amp; 车道线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可行驶区域分割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车道线检测与跟踪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全景分割（Panoptic）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在线高精地图构建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多传感器融合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前融合 / 后融合 / 中融合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卡尔曼滤波 &amp; 扩展卡尔曼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目标跟踪（MOT）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时间同步与空间标定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21208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Occupancy Network（占用网络）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将空间体素化，判断每个体素是否被占用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更好处理异形障碍物（如施工锥桶、掉落的货物）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Tesla 率先在量产车上应用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通用障碍物检测，不依赖白名单分类器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389120"/>
            <a:ext cx="53035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端到端感知（End-to-End）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74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从原始传感器输入直接输出驾驶指令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减少中间模块的信息损失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代表方案：UniAD、VAD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面临的挑战：可解释性、安全性验证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规划与决策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Planning &amp; Decision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行为决策 Behavioral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有限状态机（FSM）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决策树 / 行为树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POMDP 决策框架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基于规则的专家系统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路径规划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A* / D* / RRT 及其变体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栅格地图搜索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Frenet 坐标系下的规划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考虑车辆运动学约束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轨迹优化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多项式 / 样条曲线拟合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二次规划（QP）优化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MPC 模型预测控制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Lattice Planner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模仿学习 Imitation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从人类驾驶数据中学习驾驶策略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Behavior Cloning（BC）— 直接模仿专家行为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Inverse RL — 学习驾驶奖励函数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结合在线 Fine-tuning 提升泛化能力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大规模数据 + 仿真环境的结合是落地关键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035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强化学习 Reinforcement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在仿真环境中通过试错学习最优策略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Deep Q-Network（DQN）/ PPO / SAC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处理复杂交互场景（如无保护左转、匝道汇入）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Sim-to-Real 迁移为最大挑战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需要大量计算和逼真的仿真环境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高精地图与定位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HD Map &amp;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高精地图（HD Map）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精度达到厘米级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包含车道线、路沿、交通标志等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为规划模块提供先验信息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OSM、NDS、OpenDRIVE 等格式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众包更新是降本关键方向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重感知轻地图趋势兴起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→ BEV + Transformer 在线建图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GNSS + IMU 组合导航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RTK-GNSS：厘米级定位精度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IMU：高频惯性测量（100Hz+）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卡尔曼滤波融合 GNSS + IMU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局限性：隧道/城市峡谷信号弱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整周模糊度解算依赖基站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PPP-RTK 是未来广域方向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SLAM 即时定位与建图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LiDAR SLAM：LOAM, LeGO-LOAM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Visual SLAM：ORB-SLAM3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回环检测消除累积漂移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多传感器融合 SLAM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用于高精地图采集与实时定位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HD Map + SLAM 互补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88136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趋势：从 HD Map Dependent → HD Map Free → Map-Free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80760"/>
            <a:ext cx="1033272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传统方案：高精地图 + 定位 = 必备组件    →    现代方案：BEV 感知 + Transformer 在线建图，逐步减少对高精地图的依赖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V2X 车联网与智能交通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V2X &amp; Intelligent Transportation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V2V（车-车）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车辆间实时交换位置、速度等信息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前方紧急制动预警、防碰撞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DSRC / C-V2X 两种通信标准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中国主推 C-V2X（5G-V2X）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V2I（车-基础设施）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红绿灯信息、道路施工、拥堵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智能路口：路侧感知+边缘计算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超视距感知能力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降低单车智能成本与算力要求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V2N（车-云端）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实时交通信息、高精地图更新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远程监控与接管（Teleoperation）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云控调度优化全局交通流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OTA 远程升级自动驾驶模型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车路协同（CVIS）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智能网联：车 + 路 + 云 三位一体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路侧感知单元（RSU）+ 边缘计算节点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路侧提供鸟瞰视角感知，补充单车盲区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中国多个城市开放测试示范区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5G 低延迟（URLLC）保证实时通信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035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标准与频谱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3GPP Release 16/17：NR-V2X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中国：5.9 GHz 频段用于 LTE-V2X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IEEE 802.11p（DSRC）：欧美初期方案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中国 C-V2X：LTE-V2X → NR-V2X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跨品牌、跨车型互联互通是关键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产业格局与主要玩家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Industry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科技巨头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Waymo（Alphabet）— L4 Robotaxi 领跑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百度 Apollo — L4 + 量产双轮驱动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Cruise（GM）— 旧金山无人出租车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Amazon（Zoox）— 自研无人配送车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Apple — 曾投入，已退出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车企（OEM）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Tesla — FSD 纯视觉端到端路线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小鹏汽车 — XNGP 城市智驾先行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蔚来 — NAD / NOP+ 全栈自研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理想汽车 — AD Max 城市 NOA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华为（ADS）— 赋能车企方案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0040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Tier 1 &amp; 芯片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14600"/>
            <a:ext cx="26517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Mobileye — 视觉 ADAS 芯片霸主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NVIDIA — DRIVE Orin / Thor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Qualcomm — Snapdragon Ride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地平线 — 征程系列芯片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黑芝麻智能 — A1000 / C1200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4747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Robotaxi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Waymo：凤凰城/旧金山运营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百度萝卜快跑：武汉/北京运营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滴滴自动驾驶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小马智行（Pony.ai）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文远知行（WeRide）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AutoX 安途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206240"/>
            <a:ext cx="731520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3891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市场规模预测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92040"/>
            <a:ext cx="67665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2025年全球规模预计超 800 亿美元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2030年有望突破 3000 亿美元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中国是最大的单一市场，政策支持最大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ADAS 渗透率：2024年中国 L2+ 超 40%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Robotaxi 即将进入规模化盈利阶段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产业链：传感器 → 芯片 → 算法 → 整车 → 运营 → 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Key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技术挑战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Corner Cases（长尾场景）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极端天气下感知退化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复杂城市路口的博弈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传感器失效 / 对抗攻击鲁棒性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安全与验证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5146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如何定义"足够安全"？（SOTIF）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数十亿英里测试 → 依赖仿真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功能安全 ISO 26262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AI 黑盒模型的可解释性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法规与伦理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5146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各国法规差异大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事故责任认定机制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电车难题等伦理困境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数据隐私保护（GDPR 等）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65176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成本与落地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5146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激光雷达成本已降，仍不低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高算力芯片功耗与散热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高精地图制作维护成本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Demo → 量产质量一致性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未来趋势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Future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大模型 + 自动驾驶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多模态大模型（GPT-4V, Gemini）融入自动驾驶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视觉语言模型（VLM）帮助理解复杂交通场景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世界模型（World Model）：预测未来场景演化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统一基础模型替代传统模块化架构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035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端到端自动驾驶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从传感器直接到控制输出的单一神经网络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减少各模块间的信息瓶颈和误差累积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代表：Tesla FSD V12, UniAD, VADv2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挑战：数据需求大、训练成本高、可解释性弱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L4 商用化路线图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46634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2024-2025：Robotaxi 在多个城市扩大运营范围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2025-2026：无人配送车、无人环卫车规模化落地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2026-2027：干线物流自动驾驶进入商业化运营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2027-2028：部分城市开放全无人 Robotaxi 运营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2028-2030：乘用车 L4 开始小规模量产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2030+：L4/L5 实现大规模普及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0352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技术与商业模式融合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数据闭环：量产车采集数据 → 云端训练 → OTA 升级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算力：从 100 TOPS → 1000 TOPS → 2000 TOPS+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纯视觉 vs 多传感器融合：路线之争持续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从卖硬件到卖服务：订阅制智驾服务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车路云一体化：单车智能 + 路侧协同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自动驾驶重塑：保险、物流、出行服务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自动驾驶正在重塑人类的出行方式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从辅助驾驶到完全无人驾驶，未来已来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自动驾驶 / Autonomous Driving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